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2E5E"/>
        </a:solidFill>
        <a:effectLst/>
      </p:bgPr>
    </p:bg>
    <p:spTree>
      <p:nvGrpSpPr>
        <p:cNvPr id="1" name=""/>
        <p:cNvGrpSpPr/>
        <p:nvPr/>
      </p:nvGrpSpPr>
      <p:grpSpPr/>
      <p:sp>
        <p:nvSpPr>
          <p:cNvPr id="2" name="Title 1"/>
          <p:cNvSpPr>
            <a:spLocks noGrp="1"/>
          </p:cNvSpPr>
          <p:nvPr>
            <p:ph type="ctrTitle"/>
          </p:nvPr>
        </p:nvSpPr>
        <p:spPr/>
        <p:txBody>
          <a:bodyPr/>
          <a:lstStyle/>
          <a:p>
            <a:pPr>
              <a:defRPr b="1" sz="5400">
                <a:solidFill>
                  <a:srgbClr val="FFFFFF"/>
                </a:solidFill>
                <a:latin typeface="Arial"/>
              </a:defRPr>
            </a:pPr>
            <a:r>
              <a:t>IdentityHub</a:t>
            </a:r>
          </a:p>
        </p:txBody>
      </p:sp>
      <p:sp>
        <p:nvSpPr>
          <p:cNvPr id="3" name="Subtitle 2"/>
          <p:cNvSpPr>
            <a:spLocks noGrp="1"/>
          </p:cNvSpPr>
          <p:nvPr>
            <p:ph type="subTitle" idx="1"/>
          </p:nvPr>
        </p:nvSpPr>
        <p:spPr/>
        <p:txBody>
          <a:bodyPr/>
          <a:lstStyle/>
          <a:p>
            <a:pPr>
              <a:defRPr sz="2000">
                <a:solidFill>
                  <a:srgbClr val="E66C17"/>
                </a:solidFill>
                <a:latin typeface="Arial"/>
              </a:defRPr>
            </a:pPr>
            <a:r>
              <a:t>Gestión Centralizada de Identidad e Inventario de Aplicativos</a:t>
            </a:r>
          </a:p>
          <a:p>
            <a:pPr>
              <a:defRPr sz="2000">
                <a:solidFill>
                  <a:srgbClr val="E66C17"/>
                </a:solidFill>
                <a:latin typeface="Arial"/>
              </a:defRPr>
            </a:pPr>
          </a:p>
          <a:p>
            <a:pPr>
              <a:defRPr sz="2000">
                <a:solidFill>
                  <a:srgbClr val="E66C17"/>
                </a:solidFill>
                <a:latin typeface="Arial"/>
              </a:defRPr>
            </a:pPr>
            <a:r>
              <a:t>David Yused Pulido Pardo, Eduar de Jesús Ortiz Causil, Jhoan Steven Soto Daza</a:t>
            </a:r>
          </a:p>
          <a:p>
            <a:pPr>
              <a:defRPr sz="2000">
                <a:solidFill>
                  <a:srgbClr val="E66C17"/>
                </a:solidFill>
                <a:latin typeface="Arial"/>
              </a:defRPr>
            </a:pPr>
            <a:r>
              <a:t>Proyecto de Grado — Ingeniería de Sistemas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242E5E"/>
                </a:solidFill>
                <a:latin typeface="Arial"/>
              </a:defRPr>
            </a:pPr>
            <a:r>
              <a:t>Investigación: Introducción</a:t>
            </a:r>
          </a:p>
        </p:txBody>
      </p:sp>
      <p:sp>
        <p:nvSpPr>
          <p:cNvPr id="3" name="Content Placeholder 2"/>
          <p:cNvSpPr>
            <a:spLocks noGrp="1"/>
          </p:cNvSpPr>
          <p:nvPr>
            <p:ph idx="1"/>
          </p:nvPr>
        </p:nvSpPr>
        <p:spPr/>
        <p:txBody>
          <a:bodyPr/>
          <a:lstStyle/>
          <a:p>
            <a:pPr>
              <a:defRPr sz="2200" b="1">
                <a:solidFill>
                  <a:srgbClr val="3C3C3C"/>
                </a:solidFill>
                <a:latin typeface="Arial"/>
              </a:defRPr>
            </a:pPr>
            <a:r>
              <a:t>Proyecto: IdentityHub</a:t>
            </a:r>
          </a:p>
          <a:p>
            <a:pPr lvl="1">
              <a:defRPr sz="1800">
                <a:solidFill>
                  <a:srgbClr val="3C3C3C"/>
                </a:solidFill>
                <a:latin typeface="Arial"/>
              </a:defRPr>
            </a:pPr>
            <a:r>
              <a:t>Plataforma de gestión centralizada de identidad y descubrimiento de Shadow IT.</a:t>
            </a:r>
          </a:p>
          <a:p>
            <a:pPr>
              <a:defRPr sz="2200" b="1">
                <a:solidFill>
                  <a:srgbClr val="3C3C3C"/>
                </a:solidFill>
                <a:latin typeface="Arial"/>
              </a:defRPr>
            </a:pPr>
            <a:r>
              <a:t>Público Dirigido:</a:t>
            </a:r>
          </a:p>
          <a:p>
            <a:pPr lvl="1">
              <a:defRPr sz="1800">
                <a:solidFill>
                  <a:srgbClr val="3C3C3C"/>
                </a:solidFill>
                <a:latin typeface="Arial"/>
              </a:defRPr>
            </a:pPr>
            <a:r>
              <a:t>Pequeñas y medianas empresas (PYMES).</a:t>
            </a:r>
          </a:p>
          <a:p>
            <a:pPr>
              <a:defRPr sz="2200" b="1">
                <a:solidFill>
                  <a:srgbClr val="3C3C3C"/>
                </a:solidFill>
                <a:latin typeface="Arial"/>
              </a:defRPr>
            </a:pPr>
            <a:r>
              <a:t>Propósito:</a:t>
            </a:r>
          </a:p>
          <a:p>
            <a:pPr lvl="1">
              <a:defRPr sz="1800">
                <a:solidFill>
                  <a:srgbClr val="3C3C3C"/>
                </a:solidFill>
                <a:latin typeface="Arial"/>
              </a:defRPr>
            </a:pPr>
            <a:r>
              <a:t>Ofrecer control administrativo y reducción de riesgos sin los altos costos de soluciones Enterprise.</a:t>
            </a:r>
          </a:p>
          <a:p>
            <a:pPr>
              <a:defRPr sz="2200" b="1">
                <a:solidFill>
                  <a:srgbClr val="3C3C3C"/>
                </a:solidFill>
                <a:latin typeface="Arial"/>
              </a:defRPr>
            </a:pPr>
            <a:r>
              <a:t>Fundamento:</a:t>
            </a:r>
          </a:p>
          <a:p>
            <a:pPr lvl="1">
              <a:defRPr sz="1800">
                <a:solidFill>
                  <a:srgbClr val="3C3C3C"/>
                </a:solidFill>
                <a:latin typeface="Arial"/>
              </a:defRPr>
            </a:pPr>
            <a:r>
              <a:t>No reinventar protocolos de seguridad; construir sobre Keycloak (Identity Provider Open Source).</a:t>
            </a:r>
          </a:p>
        </p:txBody>
      </p:sp>
      <p:sp>
        <p:nvSpPr>
          <p:cNvPr id="4" name="Rectangle 3"/>
          <p:cNvSpPr/>
          <p:nvPr/>
        </p:nvSpPr>
        <p:spPr>
          <a:xfrm>
            <a:off x="457200" y="1097280"/>
            <a:ext cx="7315200" cy="45720"/>
          </a:xfrm>
          <a:prstGeom prst="rect">
            <a:avLst/>
          </a:prstGeom>
          <a:solidFill>
            <a:srgbClr val="E66C17"/>
          </a:solidFill>
          <a:ln>
            <a:solidFill>
              <a:srgbClr val="E66C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242E5E"/>
                </a:solidFill>
                <a:latin typeface="Arial"/>
              </a:defRPr>
            </a:pPr>
            <a:r>
              <a:t>Investigación: El Problema</a:t>
            </a:r>
          </a:p>
        </p:txBody>
      </p:sp>
      <p:sp>
        <p:nvSpPr>
          <p:cNvPr id="3" name="Content Placeholder 2"/>
          <p:cNvSpPr>
            <a:spLocks noGrp="1"/>
          </p:cNvSpPr>
          <p:nvPr>
            <p:ph idx="1"/>
          </p:nvPr>
        </p:nvSpPr>
        <p:spPr/>
        <p:txBody>
          <a:bodyPr/>
          <a:lstStyle/>
          <a:p>
            <a:pPr>
              <a:defRPr sz="2200" b="1">
                <a:solidFill>
                  <a:srgbClr val="3C3C3C"/>
                </a:solidFill>
                <a:latin typeface="Arial"/>
              </a:defRPr>
            </a:pPr>
            <a:r>
              <a:t>Identidad fragmentada en las PYMES:</a:t>
            </a:r>
          </a:p>
          <a:p>
            <a:pPr lvl="1">
              <a:defRPr sz="1800">
                <a:solidFill>
                  <a:srgbClr val="3C3C3C"/>
                </a:solidFill>
                <a:latin typeface="Arial"/>
              </a:defRPr>
            </a:pPr>
            <a:r>
              <a:t>La mayoría de aplicativos empresariales no soportan Single Sign-On (SSO) nativo.</a:t>
            </a:r>
          </a:p>
          <a:p>
            <a:pPr lvl="1">
              <a:defRPr sz="1800">
                <a:solidFill>
                  <a:srgbClr val="3C3C3C"/>
                </a:solidFill>
                <a:latin typeface="Arial"/>
              </a:defRPr>
            </a:pPr>
            <a:r>
              <a:t>Cobros adicionales ("SSO tax") por habilitar SAML/OIDC en planes básicos.</a:t>
            </a:r>
          </a:p>
          <a:p>
            <a:pPr>
              <a:defRPr sz="2200" b="1">
                <a:solidFill>
                  <a:srgbClr val="3C3C3C"/>
                </a:solidFill>
                <a:latin typeface="Arial"/>
              </a:defRPr>
            </a:pPr>
            <a:r>
              <a:t>Costos inasumibles:</a:t>
            </a:r>
          </a:p>
          <a:p>
            <a:pPr lvl="1">
              <a:defRPr sz="1800">
                <a:solidFill>
                  <a:srgbClr val="3C3C3C"/>
                </a:solidFill>
                <a:latin typeface="Arial"/>
              </a:defRPr>
            </a:pPr>
            <a:r>
              <a:t>Soluciones como Okta cobran desde $6 USD por usuario/mes.</a:t>
            </a:r>
          </a:p>
          <a:p>
            <a:pPr>
              <a:defRPr sz="2200" b="1">
                <a:solidFill>
                  <a:srgbClr val="3C3C3C"/>
                </a:solidFill>
                <a:latin typeface="Arial"/>
              </a:defRPr>
            </a:pPr>
            <a:r>
              <a:t>Riesgos de Seguridad Críticos:</a:t>
            </a:r>
          </a:p>
          <a:p>
            <a:pPr lvl="1">
              <a:defRPr sz="1800">
                <a:solidFill>
                  <a:srgbClr val="3C3C3C"/>
                </a:solidFill>
                <a:latin typeface="Arial"/>
              </a:defRPr>
            </a:pPr>
            <a:r>
              <a:t>Cuentas de exempleados sin revocar a tiempo debido a la descentralización.</a:t>
            </a:r>
          </a:p>
          <a:p>
            <a:pPr lvl="1">
              <a:defRPr sz="1800">
                <a:solidFill>
                  <a:srgbClr val="3C3C3C"/>
                </a:solidFill>
                <a:latin typeface="Arial"/>
              </a:defRPr>
            </a:pPr>
            <a:r>
              <a:t>Shadow IT (aplicaciones no autorizadas) sin visibilidad ni control.</a:t>
            </a:r>
          </a:p>
        </p:txBody>
      </p:sp>
      <p:sp>
        <p:nvSpPr>
          <p:cNvPr id="4" name="Rectangle 3"/>
          <p:cNvSpPr/>
          <p:nvPr/>
        </p:nvSpPr>
        <p:spPr>
          <a:xfrm>
            <a:off x="457200" y="1097280"/>
            <a:ext cx="7315200" cy="45720"/>
          </a:xfrm>
          <a:prstGeom prst="rect">
            <a:avLst/>
          </a:prstGeom>
          <a:solidFill>
            <a:srgbClr val="E66C17"/>
          </a:solidFill>
          <a:ln>
            <a:solidFill>
              <a:srgbClr val="E66C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242E5E"/>
                </a:solidFill>
                <a:latin typeface="Arial"/>
              </a:defRPr>
            </a:pPr>
            <a:r>
              <a:t>Investigación: Justificación</a:t>
            </a:r>
          </a:p>
        </p:txBody>
      </p:sp>
      <p:sp>
        <p:nvSpPr>
          <p:cNvPr id="3" name="Content Placeholder 2"/>
          <p:cNvSpPr>
            <a:spLocks noGrp="1"/>
          </p:cNvSpPr>
          <p:nvPr>
            <p:ph idx="1"/>
          </p:nvPr>
        </p:nvSpPr>
        <p:spPr/>
        <p:txBody>
          <a:bodyPr/>
          <a:lstStyle/>
          <a:p>
            <a:pPr>
              <a:defRPr sz="2200" b="1">
                <a:solidFill>
                  <a:srgbClr val="3C3C3C"/>
                </a:solidFill>
                <a:latin typeface="Arial"/>
              </a:defRPr>
            </a:pPr>
            <a:r>
              <a:t>Existe un vacío real entre lo caro y lo inexistente en el mercado.</a:t>
            </a:r>
          </a:p>
          <a:p>
            <a:pPr>
              <a:defRPr sz="2200" b="1">
                <a:solidFill>
                  <a:srgbClr val="3C3C3C"/>
                </a:solidFill>
                <a:latin typeface="Arial"/>
              </a:defRPr>
            </a:pPr>
            <a:r>
              <a:t>Oferta actual desalineada:</a:t>
            </a:r>
          </a:p>
          <a:p>
            <a:pPr lvl="1">
              <a:defRPr sz="1800">
                <a:solidFill>
                  <a:srgbClr val="3C3C3C"/>
                </a:solidFill>
                <a:latin typeface="Arial"/>
              </a:defRPr>
            </a:pPr>
            <a:r>
              <a:t>Okta, Azure AD, Zylo y BetterCloud están dirigidas y valoradas para grandes empresas.</a:t>
            </a:r>
          </a:p>
          <a:p>
            <a:pPr>
              <a:defRPr sz="2200" b="1">
                <a:solidFill>
                  <a:srgbClr val="3C3C3C"/>
                </a:solidFill>
                <a:latin typeface="Arial"/>
              </a:defRPr>
            </a:pPr>
            <a:r>
              <a:t>Necesidad de las PYMES:</a:t>
            </a:r>
          </a:p>
          <a:p>
            <a:pPr lvl="1">
              <a:defRPr sz="1800">
                <a:solidFill>
                  <a:srgbClr val="3C3C3C"/>
                </a:solidFill>
                <a:latin typeface="Arial"/>
              </a:defRPr>
            </a:pPr>
            <a:r>
              <a:t>Enfrentan los mismos riesgos de seguridad, pero sin el presupuesto para costear estas plataformas.</a:t>
            </a:r>
          </a:p>
          <a:p>
            <a:pPr>
              <a:defRPr sz="2200" b="1">
                <a:solidFill>
                  <a:srgbClr val="3C3C3C"/>
                </a:solidFill>
                <a:latin typeface="Arial"/>
              </a:defRPr>
            </a:pPr>
            <a:r>
              <a:t>La Solución:</a:t>
            </a:r>
          </a:p>
          <a:p>
            <a:pPr lvl="1">
              <a:defRPr sz="1800">
                <a:solidFill>
                  <a:srgbClr val="3C3C3C"/>
                </a:solidFill>
                <a:latin typeface="Arial"/>
              </a:defRPr>
            </a:pPr>
            <a:r>
              <a:t>Ofrecer una capa de gestión accesible sobre código abierto (Keycloak), para el segmento desatendido.</a:t>
            </a:r>
          </a:p>
        </p:txBody>
      </p:sp>
      <p:sp>
        <p:nvSpPr>
          <p:cNvPr id="4" name="Rectangle 3"/>
          <p:cNvSpPr/>
          <p:nvPr/>
        </p:nvSpPr>
        <p:spPr>
          <a:xfrm>
            <a:off x="457200" y="1097280"/>
            <a:ext cx="7315200" cy="45720"/>
          </a:xfrm>
          <a:prstGeom prst="rect">
            <a:avLst/>
          </a:prstGeom>
          <a:solidFill>
            <a:srgbClr val="E66C17"/>
          </a:solidFill>
          <a:ln>
            <a:solidFill>
              <a:srgbClr val="E66C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242E5E"/>
                </a:solidFill>
                <a:latin typeface="Arial"/>
              </a:defRPr>
            </a:pPr>
            <a:r>
              <a:t>Investigación: Estado del Arte</a:t>
            </a:r>
          </a:p>
        </p:txBody>
      </p:sp>
      <p:sp>
        <p:nvSpPr>
          <p:cNvPr id="3" name="Content Placeholder 2"/>
          <p:cNvSpPr>
            <a:spLocks noGrp="1"/>
          </p:cNvSpPr>
          <p:nvPr>
            <p:ph idx="1"/>
          </p:nvPr>
        </p:nvSpPr>
        <p:spPr/>
        <p:txBody>
          <a:bodyPr/>
          <a:lstStyle/>
          <a:p>
            <a:pPr>
              <a:defRPr sz="2200" b="1">
                <a:solidFill>
                  <a:srgbClr val="3C3C3C"/>
                </a:solidFill>
                <a:latin typeface="Arial"/>
              </a:defRPr>
            </a:pPr>
            <a:r>
              <a:t>Lo que ya existe en el mercado:</a:t>
            </a:r>
          </a:p>
          <a:p>
            <a:pPr lvl="1">
              <a:defRPr sz="1800">
                <a:solidFill>
                  <a:srgbClr val="3C3C3C"/>
                </a:solidFill>
                <a:latin typeface="Arial"/>
              </a:defRPr>
            </a:pPr>
            <a:r>
              <a:t>Okta / Entra ID: SSO comercial estándar (Costoso, asume soporte nativo OIDC/SAML).</a:t>
            </a:r>
          </a:p>
          <a:p>
            <a:pPr lvl="1">
              <a:defRPr sz="1800">
                <a:solidFill>
                  <a:srgbClr val="3C3C3C"/>
                </a:solidFill>
                <a:latin typeface="Arial"/>
              </a:defRPr>
            </a:pPr>
            <a:r>
              <a:t>Entra ID Governance: Offboarding automatizado (Premium add-on).</a:t>
            </a:r>
          </a:p>
          <a:p>
            <a:pPr lvl="1">
              <a:defRPr sz="1800">
                <a:solidFill>
                  <a:srgbClr val="3C3C3C"/>
                </a:solidFill>
                <a:latin typeface="Arial"/>
              </a:defRPr>
            </a:pPr>
            <a:r>
              <a:t>Zluri: SaaS management y gobierno (Cerrado y de pago).</a:t>
            </a:r>
          </a:p>
          <a:p>
            <a:pPr lvl="1">
              <a:defRPr sz="1800">
                <a:solidFill>
                  <a:srgbClr val="3C3C3C"/>
                </a:solidFill>
                <a:latin typeface="Arial"/>
              </a:defRPr>
            </a:pPr>
            <a:r>
              <a:t>SpendHound: Visibilidad de gasto (No hace identidad ni offboarding).</a:t>
            </a:r>
          </a:p>
          <a:p>
            <a:pPr>
              <a:defRPr sz="2200" b="1">
                <a:solidFill>
                  <a:srgbClr val="3C3C3C"/>
                </a:solidFill>
                <a:latin typeface="Arial"/>
              </a:defRPr>
            </a:pPr>
            <a:r>
              <a:t>Conclusión:</a:t>
            </a:r>
          </a:p>
          <a:p>
            <a:pPr lvl="1">
              <a:defRPr sz="1800">
                <a:solidFill>
                  <a:srgbClr val="3C3C3C"/>
                </a:solidFill>
                <a:latin typeface="Arial"/>
              </a:defRPr>
            </a:pPr>
            <a:r>
              <a:t>Ninguna solución actual, accesible para PYMES y de código abierto, unifica SSO para apps legacy, inventario, offboarding y descubrimiento de Shadow IT.</a:t>
            </a:r>
          </a:p>
        </p:txBody>
      </p:sp>
      <p:sp>
        <p:nvSpPr>
          <p:cNvPr id="4" name="Rectangle 3"/>
          <p:cNvSpPr/>
          <p:nvPr/>
        </p:nvSpPr>
        <p:spPr>
          <a:xfrm>
            <a:off x="457200" y="1097280"/>
            <a:ext cx="7315200" cy="45720"/>
          </a:xfrm>
          <a:prstGeom prst="rect">
            <a:avLst/>
          </a:prstGeom>
          <a:solidFill>
            <a:srgbClr val="E66C17"/>
          </a:solidFill>
          <a:ln>
            <a:solidFill>
              <a:srgbClr val="E66C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242E5E"/>
                </a:solidFill>
                <a:latin typeface="Arial"/>
              </a:defRPr>
            </a:pPr>
            <a:r>
              <a:t>Fuentes, Encuestas y Análisis</a:t>
            </a:r>
          </a:p>
        </p:txBody>
      </p:sp>
      <p:sp>
        <p:nvSpPr>
          <p:cNvPr id="3" name="Content Placeholder 2"/>
          <p:cNvSpPr>
            <a:spLocks noGrp="1"/>
          </p:cNvSpPr>
          <p:nvPr>
            <p:ph idx="1"/>
          </p:nvPr>
        </p:nvSpPr>
        <p:spPr/>
        <p:txBody>
          <a:bodyPr/>
          <a:lstStyle/>
          <a:p>
            <a:pPr>
              <a:defRPr sz="2200" b="1">
                <a:solidFill>
                  <a:srgbClr val="3C3C3C"/>
                </a:solidFill>
                <a:latin typeface="Arial"/>
              </a:defRPr>
            </a:pPr>
            <a:r>
              <a:t>Fuentes y Diagnóstico Directo:</a:t>
            </a:r>
          </a:p>
          <a:p>
            <a:pPr lvl="1">
              <a:defRPr sz="1800">
                <a:solidFill>
                  <a:srgbClr val="3C3C3C"/>
                </a:solidFill>
                <a:latin typeface="Arial"/>
              </a:defRPr>
            </a:pPr>
            <a:r>
              <a:t>Investigación basada en necesidades reales de empresas medianas con decenas de aplicativos.</a:t>
            </a:r>
          </a:p>
          <a:p>
            <a:pPr>
              <a:defRPr sz="2200" b="1">
                <a:solidFill>
                  <a:srgbClr val="3C3C3C"/>
                </a:solidFill>
                <a:latin typeface="Arial"/>
              </a:defRPr>
            </a:pPr>
            <a:r>
              <a:t>Encuestas e Investigación Primaria (En curso):</a:t>
            </a:r>
          </a:p>
          <a:p>
            <a:pPr lvl="1">
              <a:defRPr sz="1800">
                <a:solidFill>
                  <a:srgbClr val="3C3C3C"/>
                </a:solidFill>
                <a:latin typeface="Arial"/>
              </a:defRPr>
            </a:pPr>
            <a:r>
              <a:t>Evaluación de necesidades y vulnerabilidades en PYMES mediante diagnóstico directo.</a:t>
            </a:r>
          </a:p>
          <a:p>
            <a:pPr>
              <a:defRPr sz="2200" b="1">
                <a:solidFill>
                  <a:srgbClr val="3C3C3C"/>
                </a:solidFill>
                <a:latin typeface="Arial"/>
              </a:defRPr>
            </a:pPr>
            <a:r>
              <a:t>Análisis y Conclusiones Parciales:</a:t>
            </a:r>
          </a:p>
          <a:p>
            <a:pPr lvl="1">
              <a:defRPr sz="1800">
                <a:solidFill>
                  <a:srgbClr val="3C3C3C"/>
                </a:solidFill>
                <a:latin typeface="Arial"/>
              </a:defRPr>
            </a:pPr>
            <a:r>
              <a:t>El proceso manual y fragmentado de gestión de accesos genera vulnerabilidades comprobables.</a:t>
            </a:r>
          </a:p>
          <a:p>
            <a:pPr lvl="1">
              <a:defRPr sz="1800">
                <a:solidFill>
                  <a:srgbClr val="3C3C3C"/>
                </a:solidFill>
                <a:latin typeface="Arial"/>
              </a:defRPr>
            </a:pPr>
            <a:r>
              <a:t>Proyección global de SSO a 2.2 billones de dólares para 2027.</a:t>
            </a:r>
          </a:p>
          <a:p>
            <a:pPr lvl="1">
              <a:defRPr sz="1800">
                <a:solidFill>
                  <a:srgbClr val="3C3C3C"/>
                </a:solidFill>
                <a:latin typeface="Arial"/>
              </a:defRPr>
            </a:pPr>
            <a:r>
              <a:t>El Auth Reverse Proxy resuelve el SSO en apps Legacy sin cambiar su código.</a:t>
            </a:r>
          </a:p>
        </p:txBody>
      </p:sp>
      <p:sp>
        <p:nvSpPr>
          <p:cNvPr id="4" name="Rectangle 3"/>
          <p:cNvSpPr/>
          <p:nvPr/>
        </p:nvSpPr>
        <p:spPr>
          <a:xfrm>
            <a:off x="457200" y="1097280"/>
            <a:ext cx="7315200" cy="45720"/>
          </a:xfrm>
          <a:prstGeom prst="rect">
            <a:avLst/>
          </a:prstGeom>
          <a:solidFill>
            <a:srgbClr val="E66C17"/>
          </a:solidFill>
          <a:ln>
            <a:solidFill>
              <a:srgbClr val="E66C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242E5E"/>
                </a:solidFill>
                <a:latin typeface="Arial"/>
              </a:defRPr>
            </a:pPr>
            <a:r>
              <a:t>Objetivos y Alcance: Objetivo General</a:t>
            </a:r>
          </a:p>
        </p:txBody>
      </p:sp>
      <p:sp>
        <p:nvSpPr>
          <p:cNvPr id="3" name="Content Placeholder 2"/>
          <p:cNvSpPr>
            <a:spLocks noGrp="1"/>
          </p:cNvSpPr>
          <p:nvPr>
            <p:ph idx="1"/>
          </p:nvPr>
        </p:nvSpPr>
        <p:spPr/>
        <p:txBody>
          <a:bodyPr/>
          <a:lstStyle/>
          <a:p>
            <a:pPr>
              <a:defRPr sz="2200" b="1">
                <a:solidFill>
                  <a:srgbClr val="3C3C3C"/>
                </a:solidFill>
                <a:latin typeface="Arial"/>
              </a:defRPr>
            </a:pPr>
            <a:r>
              <a:t>Objetivo General:</a:t>
            </a:r>
          </a:p>
          <a:p>
            <a:pPr lvl="1">
              <a:defRPr sz="1800">
                <a:solidFill>
                  <a:srgbClr val="3C3C3C"/>
                </a:solidFill>
                <a:latin typeface="Arial"/>
              </a:defRPr>
            </a:pPr>
            <a:r>
              <a:t>Desarrollar una plataforma integral de gestión centralizada de identidades y accesos (IdentityHub) que ofrezca a las PYMES un control administrativo optimizado y una reducción de los riesgos de seguridad derivados de credenciales descentralizadas, previniendo el uso de aplicaciones no autorizadas (Shadow IT) mediante la integración de un proveedor de identidad de código abierto (Keycloak), un proxy de autenticación y un servicio de inventario automatizado.</a:t>
            </a:r>
          </a:p>
        </p:txBody>
      </p:sp>
      <p:sp>
        <p:nvSpPr>
          <p:cNvPr id="4" name="Rectangle 3"/>
          <p:cNvSpPr/>
          <p:nvPr/>
        </p:nvSpPr>
        <p:spPr>
          <a:xfrm>
            <a:off x="457200" y="1097280"/>
            <a:ext cx="7315200" cy="45720"/>
          </a:xfrm>
          <a:prstGeom prst="rect">
            <a:avLst/>
          </a:prstGeom>
          <a:solidFill>
            <a:srgbClr val="E66C17"/>
          </a:solidFill>
          <a:ln>
            <a:solidFill>
              <a:srgbClr val="E66C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242E5E"/>
                </a:solidFill>
                <a:latin typeface="Arial"/>
              </a:defRPr>
            </a:pPr>
            <a:r>
              <a:t>Objetivos Corregidos</a:t>
            </a:r>
          </a:p>
        </p:txBody>
      </p:sp>
      <p:sp>
        <p:nvSpPr>
          <p:cNvPr id="3" name="Content Placeholder 2"/>
          <p:cNvSpPr>
            <a:spLocks noGrp="1"/>
          </p:cNvSpPr>
          <p:nvPr>
            <p:ph idx="1"/>
          </p:nvPr>
        </p:nvSpPr>
        <p:spPr/>
        <p:txBody>
          <a:bodyPr/>
          <a:lstStyle/>
          <a:p>
            <a:pPr lvl="1">
              <a:defRPr sz="1800">
                <a:solidFill>
                  <a:srgbClr val="3C3C3C"/>
                </a:solidFill>
                <a:latin typeface="Arial"/>
              </a:defRPr>
            </a:pPr>
            <a:r>
              <a:t>1. Centralizar la administración de identidades y el inicio de sesión único (SSO) en aplicaciones corporativas, proporcionando a las empresas un control administrativo y optimizado sobre sus recursos tecnológicos.</a:t>
            </a:r>
          </a:p>
          <a:p>
            <a:pPr lvl="1">
              <a:defRPr sz="1800">
                <a:solidFill>
                  <a:srgbClr val="3C3C3C"/>
                </a:solidFill>
                <a:latin typeface="Arial"/>
              </a:defRPr>
            </a:pPr>
            <a:r>
              <a:t>2. Asegurar la reducción de riesgos de seguridad eliminando las vulnerabilidades de cuentas huérfanas y aplicaciones no autorizadas (Shadow IT), a través de la automatización del proceso de altas y bajas de usuarios en tiempo real.</a:t>
            </a:r>
          </a:p>
          <a:p>
            <a:pPr lvl="1">
              <a:defRPr sz="1800">
                <a:solidFill>
                  <a:srgbClr val="3C3C3C"/>
                </a:solidFill>
                <a:latin typeface="Arial"/>
              </a:defRPr>
            </a:pPr>
            <a:r>
              <a:t>3. Ejecutar el ciclo de desarrollo del sistema a través de cuatro fases clave: evaluar y diseñar la arquitectura basada en las necesidades actuales; implementar el núcleo de identidad con Keycloak; automatizar la gestión de accesos; y validar y cerrar el proyecto asegurando la calidad del código, las pruebas y la documentación técnica.</a:t>
            </a:r>
          </a:p>
        </p:txBody>
      </p:sp>
      <p:sp>
        <p:nvSpPr>
          <p:cNvPr id="4" name="Rectangle 3"/>
          <p:cNvSpPr/>
          <p:nvPr/>
        </p:nvSpPr>
        <p:spPr>
          <a:xfrm>
            <a:off x="457200" y="1097280"/>
            <a:ext cx="7315200" cy="45720"/>
          </a:xfrm>
          <a:prstGeom prst="rect">
            <a:avLst/>
          </a:prstGeom>
          <a:solidFill>
            <a:srgbClr val="E66C17"/>
          </a:solidFill>
          <a:ln>
            <a:solidFill>
              <a:srgbClr val="E66C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242E5E"/>
                </a:solidFill>
                <a:latin typeface="Arial"/>
              </a:defRPr>
            </a:pPr>
            <a:r>
              <a:t>Alcance y Restricciones</a:t>
            </a:r>
          </a:p>
        </p:txBody>
      </p:sp>
      <p:sp>
        <p:nvSpPr>
          <p:cNvPr id="3" name="Content Placeholder 2"/>
          <p:cNvSpPr>
            <a:spLocks noGrp="1"/>
          </p:cNvSpPr>
          <p:nvPr>
            <p:ph idx="1"/>
          </p:nvPr>
        </p:nvSpPr>
        <p:spPr/>
        <p:txBody>
          <a:bodyPr/>
          <a:lstStyle/>
          <a:p>
            <a:pPr>
              <a:defRPr sz="2200" b="1">
                <a:solidFill>
                  <a:srgbClr val="3C3C3C"/>
                </a:solidFill>
                <a:latin typeface="Arial"/>
              </a:defRPr>
            </a:pPr>
            <a:r>
              <a:t>Alcance (Incluye):</a:t>
            </a:r>
          </a:p>
          <a:p>
            <a:pPr lvl="1">
              <a:defRPr sz="1800">
                <a:solidFill>
                  <a:srgbClr val="3C3C3C"/>
                </a:solidFill>
                <a:latin typeface="Arial"/>
              </a:defRPr>
            </a:pPr>
            <a:r>
              <a:t>Broker de identidad sobre Keycloak.</a:t>
            </a:r>
          </a:p>
          <a:p>
            <a:pPr lvl="1">
              <a:defRPr sz="1800">
                <a:solidFill>
                  <a:srgbClr val="3C3C3C"/>
                </a:solidFill>
                <a:latin typeface="Arial"/>
              </a:defRPr>
            </a:pPr>
            <a:r>
              <a:t>Auth Reverse Proxy para aplicaciones legacy.</a:t>
            </a:r>
          </a:p>
          <a:p>
            <a:pPr lvl="1">
              <a:defRPr sz="1800">
                <a:solidFill>
                  <a:srgbClr val="3C3C3C"/>
                </a:solidFill>
                <a:latin typeface="Arial"/>
              </a:defRPr>
            </a:pPr>
            <a:r>
              <a:t>Inventario de aplicativos y offboarding centralizado con auditoría.</a:t>
            </a:r>
          </a:p>
          <a:p>
            <a:pPr lvl="1">
              <a:defRPr sz="1800">
                <a:solidFill>
                  <a:srgbClr val="3C3C3C"/>
                </a:solidFill>
                <a:latin typeface="Arial"/>
              </a:defRPr>
            </a:pPr>
            <a:r>
              <a:t>Descubrimiento de Shadow IT vía OAuth con puntaje de riesgo.</a:t>
            </a:r>
          </a:p>
          <a:p>
            <a:pPr>
              <a:defRPr sz="2200" b="1">
                <a:solidFill>
                  <a:srgbClr val="3C3C3C"/>
                </a:solidFill>
                <a:latin typeface="Arial"/>
              </a:defRPr>
            </a:pPr>
            <a:r>
              <a:t>Restricciones (No incluye por ahora):</a:t>
            </a:r>
          </a:p>
          <a:p>
            <a:pPr lvl="1">
              <a:defRPr sz="1800">
                <a:solidFill>
                  <a:srgbClr val="3C3C3C"/>
                </a:solidFill>
                <a:latin typeface="Arial"/>
              </a:defRPr>
            </a:pPr>
            <a:r>
              <a:t>Aprovisionamiento automático de cuentas nuevas (onboarding completo).</a:t>
            </a:r>
          </a:p>
          <a:p>
            <a:pPr lvl="1">
              <a:defRPr sz="1800">
                <a:solidFill>
                  <a:srgbClr val="3C3C3C"/>
                </a:solidFill>
                <a:latin typeface="Arial"/>
              </a:defRPr>
            </a:pPr>
            <a:r>
              <a:t>Integración directa con sistemas de nómina / RRHH.</a:t>
            </a:r>
          </a:p>
          <a:p>
            <a:pPr lvl="1">
              <a:defRPr sz="1800">
                <a:solidFill>
                  <a:srgbClr val="3C3C3C"/>
                </a:solidFill>
                <a:latin typeface="Arial"/>
              </a:defRPr>
            </a:pPr>
            <a:r>
              <a:t>Soporte multi-tenant para múltiples organizaciones simultáneas.</a:t>
            </a:r>
          </a:p>
          <a:p>
            <a:pPr lvl="1">
              <a:defRPr sz="1800">
                <a:solidFill>
                  <a:srgbClr val="3C3C3C"/>
                </a:solidFill>
                <a:latin typeface="Arial"/>
              </a:defRPr>
            </a:pPr>
            <a:r>
              <a:t>Panel de analítica de licencias predictivo.</a:t>
            </a:r>
          </a:p>
        </p:txBody>
      </p:sp>
      <p:sp>
        <p:nvSpPr>
          <p:cNvPr id="4" name="Rectangle 3"/>
          <p:cNvSpPr/>
          <p:nvPr/>
        </p:nvSpPr>
        <p:spPr>
          <a:xfrm>
            <a:off x="457200" y="1097280"/>
            <a:ext cx="7315200" cy="45720"/>
          </a:xfrm>
          <a:prstGeom prst="rect">
            <a:avLst/>
          </a:prstGeom>
          <a:solidFill>
            <a:srgbClr val="E66C17"/>
          </a:solidFill>
          <a:ln>
            <a:solidFill>
              <a:srgbClr val="E66C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242E5E"/>
                </a:solidFill>
                <a:latin typeface="Arial"/>
              </a:defRPr>
            </a:pPr>
            <a:r>
              <a:t>Metodología: Investigación y Desarrollo</a:t>
            </a:r>
          </a:p>
        </p:txBody>
      </p:sp>
      <p:sp>
        <p:nvSpPr>
          <p:cNvPr id="3" name="Content Placeholder 2"/>
          <p:cNvSpPr>
            <a:spLocks noGrp="1"/>
          </p:cNvSpPr>
          <p:nvPr>
            <p:ph idx="1"/>
          </p:nvPr>
        </p:nvSpPr>
        <p:spPr/>
        <p:txBody>
          <a:bodyPr/>
          <a:lstStyle/>
          <a:p>
            <a:pPr>
              <a:defRPr sz="2200" b="1">
                <a:solidFill>
                  <a:srgbClr val="3C3C3C"/>
                </a:solidFill>
                <a:latin typeface="Arial"/>
              </a:defRPr>
            </a:pPr>
            <a:r>
              <a:t>Metodología de Investigación (Aplicada y Diagnóstica):</a:t>
            </a:r>
          </a:p>
          <a:p>
            <a:pPr lvl="1">
              <a:defRPr sz="1800">
                <a:solidFill>
                  <a:srgbClr val="3C3C3C"/>
                </a:solidFill>
                <a:latin typeface="Arial"/>
              </a:defRPr>
            </a:pPr>
            <a:r>
              <a:t>Enfoque en resolver un problema práctico de seguridad y gestión en TI.</a:t>
            </a:r>
          </a:p>
          <a:p>
            <a:pPr lvl="1">
              <a:defRPr sz="1800">
                <a:solidFill>
                  <a:srgbClr val="3C3C3C"/>
                </a:solidFill>
                <a:latin typeface="Arial"/>
              </a:defRPr>
            </a:pPr>
            <a:r>
              <a:t>Evaluación de mercado (Estado del Arte) y levantamiento de requerimientos vía encuestas en PYMES reales.</a:t>
            </a:r>
          </a:p>
          <a:p>
            <a:pPr>
              <a:defRPr sz="2200" b="1">
                <a:solidFill>
                  <a:srgbClr val="3C3C3C"/>
                </a:solidFill>
                <a:latin typeface="Arial"/>
              </a:defRPr>
            </a:pPr>
            <a:r>
              <a:t>Metodología de Desarrollo Seleccionada:</a:t>
            </a:r>
          </a:p>
          <a:p>
            <a:pPr lvl="1">
              <a:defRPr sz="1800">
                <a:solidFill>
                  <a:srgbClr val="3C3C3C"/>
                </a:solidFill>
                <a:latin typeface="Arial"/>
              </a:defRPr>
            </a:pPr>
            <a:r>
              <a:t>Marco de Trabajo Ágil: Scrum.</a:t>
            </a:r>
          </a:p>
          <a:p>
            <a:pPr>
              <a:defRPr sz="2200" b="1">
                <a:solidFill>
                  <a:srgbClr val="3C3C3C"/>
                </a:solidFill>
                <a:latin typeface="Arial"/>
              </a:defRPr>
            </a:pPr>
            <a:r>
              <a:t>Justificación del Desarrollo:</a:t>
            </a:r>
          </a:p>
          <a:p>
            <a:pPr lvl="1">
              <a:defRPr sz="1800">
                <a:solidFill>
                  <a:srgbClr val="3C3C3C"/>
                </a:solidFill>
                <a:latin typeface="Arial"/>
              </a:defRPr>
            </a:pPr>
            <a:r>
              <a:t>Permite iteración rápida y entregas modulares (Keycloak -&gt; Proxy -&gt; Inventario -&gt; Shadow IT).</a:t>
            </a:r>
          </a:p>
          <a:p>
            <a:pPr lvl="1">
              <a:defRPr sz="1800">
                <a:solidFill>
                  <a:srgbClr val="3C3C3C"/>
                </a:solidFill>
                <a:latin typeface="Arial"/>
              </a:defRPr>
            </a:pPr>
            <a:r>
              <a:t>Sprints de 1 a 2 semanas con reuniones de Planning, Review y Retrospective.</a:t>
            </a:r>
          </a:p>
        </p:txBody>
      </p:sp>
      <p:sp>
        <p:nvSpPr>
          <p:cNvPr id="4" name="Rectangle 3"/>
          <p:cNvSpPr/>
          <p:nvPr/>
        </p:nvSpPr>
        <p:spPr>
          <a:xfrm>
            <a:off x="457200" y="1097280"/>
            <a:ext cx="7315200" cy="45720"/>
          </a:xfrm>
          <a:prstGeom prst="rect">
            <a:avLst/>
          </a:prstGeom>
          <a:solidFill>
            <a:srgbClr val="E66C17"/>
          </a:solidFill>
          <a:ln>
            <a:solidFill>
              <a:srgbClr val="E66C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Title 1"/>
          <p:cNvSpPr>
            <a:spLocks noGrp="1"/>
          </p:cNvSpPr>
          <p:nvPr>
            <p:ph type="title"/>
          </p:nvPr>
        </p:nvSpPr>
        <p:spPr/>
        <p:txBody>
          <a:bodyPr/>
          <a:lstStyle/>
          <a:p>
            <a:pPr>
              <a:defRPr b="1">
                <a:solidFill>
                  <a:srgbClr val="242E5E"/>
                </a:solidFill>
                <a:latin typeface="Arial"/>
              </a:defRPr>
            </a:pPr>
            <a:r>
              <a:t>Herramientas y Trazabilidad</a:t>
            </a:r>
          </a:p>
        </p:txBody>
      </p:sp>
      <p:sp>
        <p:nvSpPr>
          <p:cNvPr id="3" name="Content Placeholder 2"/>
          <p:cNvSpPr>
            <a:spLocks noGrp="1"/>
          </p:cNvSpPr>
          <p:nvPr>
            <p:ph idx="1"/>
          </p:nvPr>
        </p:nvSpPr>
        <p:spPr/>
        <p:txBody>
          <a:bodyPr/>
          <a:lstStyle/>
          <a:p>
            <a:pPr>
              <a:defRPr sz="2200" b="1">
                <a:solidFill>
                  <a:srgbClr val="3C3C3C"/>
                </a:solidFill>
                <a:latin typeface="Arial"/>
              </a:defRPr>
            </a:pPr>
            <a:r>
              <a:t>Trazabilidad y Control de Versiones (GitHub Flow):</a:t>
            </a:r>
          </a:p>
          <a:p>
            <a:pPr lvl="1">
              <a:defRPr sz="1800">
                <a:solidFill>
                  <a:srgbClr val="3C3C3C"/>
                </a:solidFill>
                <a:latin typeface="Arial"/>
              </a:defRPr>
            </a:pPr>
            <a:r>
              <a:t>Desarrollo estructurado mediante ramas por funcionalidad.</a:t>
            </a:r>
          </a:p>
          <a:p>
            <a:pPr lvl="1">
              <a:defRPr sz="1800">
                <a:solidFill>
                  <a:srgbClr val="3C3C3C"/>
                </a:solidFill>
                <a:latin typeface="Arial"/>
              </a:defRPr>
            </a:pPr>
            <a:r>
              <a:t>Integración mediante Pull Requests (PR) y revisión por pares.</a:t>
            </a:r>
          </a:p>
          <a:p>
            <a:pPr lvl="1">
              <a:defRPr sz="1800">
                <a:solidFill>
                  <a:srgbClr val="3C3C3C"/>
                </a:solidFill>
                <a:latin typeface="Arial"/>
              </a:defRPr>
            </a:pPr>
            <a:r>
              <a:t>Plantillas de Issues pre-configuradas para asegurar la calidad.</a:t>
            </a:r>
          </a:p>
          <a:p>
            <a:pPr>
              <a:defRPr sz="2200" b="1">
                <a:solidFill>
                  <a:srgbClr val="3C3C3C"/>
                </a:solidFill>
                <a:latin typeface="Arial"/>
              </a:defRPr>
            </a:pPr>
            <a:r>
              <a:t>Roles Scrum:</a:t>
            </a:r>
          </a:p>
          <a:p>
            <a:pPr lvl="1">
              <a:defRPr sz="1800">
                <a:solidFill>
                  <a:srgbClr val="3C3C3C"/>
                </a:solidFill>
                <a:latin typeface="Arial"/>
              </a:defRPr>
            </a:pPr>
            <a:r>
              <a:t>Scrum Master: Jhoan Steven Soto Daza.</a:t>
            </a:r>
          </a:p>
          <a:p>
            <a:pPr lvl="1">
              <a:defRPr sz="1800">
                <a:solidFill>
                  <a:srgbClr val="3C3C3C"/>
                </a:solidFill>
                <a:latin typeface="Arial"/>
              </a:defRPr>
            </a:pPr>
            <a:r>
              <a:t>Product Owner / Developers: Los tres integrantes del equipo.</a:t>
            </a:r>
          </a:p>
          <a:p>
            <a:pPr lvl="1">
              <a:defRPr sz="1800">
                <a:solidFill>
                  <a:srgbClr val="3C3C3C"/>
                </a:solidFill>
                <a:latin typeface="Arial"/>
              </a:defRPr>
            </a:pPr>
            <a:r>
              <a:t>Commits individuales para garantizar la trazabilidad real de cada participante.</a:t>
            </a:r>
          </a:p>
        </p:txBody>
      </p:sp>
      <p:sp>
        <p:nvSpPr>
          <p:cNvPr id="4" name="Rectangle 3"/>
          <p:cNvSpPr/>
          <p:nvPr/>
        </p:nvSpPr>
        <p:spPr>
          <a:xfrm>
            <a:off x="457200" y="1097280"/>
            <a:ext cx="7315200" cy="45720"/>
          </a:xfrm>
          <a:prstGeom prst="rect">
            <a:avLst/>
          </a:prstGeom>
          <a:solidFill>
            <a:srgbClr val="E66C17"/>
          </a:solidFill>
          <a:ln>
            <a:solidFill>
              <a:srgbClr val="E66C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42E5E"/>
        </a:solidFill>
        <a:effectLst/>
      </p:bgPr>
    </p:bg>
    <p:spTree>
      <p:nvGrpSpPr>
        <p:cNvPr id="1" name=""/>
        <p:cNvGrpSpPr/>
        <p:nvPr/>
      </p:nvGrpSpPr>
      <p:grpSpPr/>
      <p:sp>
        <p:nvSpPr>
          <p:cNvPr id="2" name="Title 1"/>
          <p:cNvSpPr>
            <a:spLocks noGrp="1"/>
          </p:cNvSpPr>
          <p:nvPr>
            <p:ph type="ctrTitle"/>
          </p:nvPr>
        </p:nvSpPr>
        <p:spPr/>
        <p:txBody>
          <a:bodyPr/>
          <a:lstStyle/>
          <a:p>
            <a:pPr>
              <a:defRPr b="1">
                <a:solidFill>
                  <a:srgbClr val="FFFFFF"/>
                </a:solidFill>
              </a:defRPr>
            </a:pPr>
            <a:r>
              <a:t>¡Gracias!</a:t>
            </a:r>
          </a:p>
        </p:txBody>
      </p:sp>
      <p:sp>
        <p:nvSpPr>
          <p:cNvPr id="3" name="Subtitle 2"/>
          <p:cNvSpPr>
            <a:spLocks noGrp="1"/>
          </p:cNvSpPr>
          <p:nvPr>
            <p:ph type="subTitle" idx="1"/>
          </p:nvPr>
        </p:nvSpPr>
        <p:spPr/>
        <p:txBody>
          <a:bodyPr/>
          <a:lstStyle/>
          <a:p>
            <a:pPr>
              <a:defRPr>
                <a:solidFill>
                  <a:srgbClr val="E66C17"/>
                </a:solidFill>
              </a:defRPr>
            </a:pPr>
            <a: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